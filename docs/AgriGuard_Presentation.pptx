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43EFD-727F-4A7E-A3D2-A805DD7BFF3D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5E1960-DA94-4F03-BBE6-89E6F4BF0EDC}">
      <dgm:prSet/>
      <dgm:spPr>
        <a:solidFill>
          <a:srgbClr val="1B5E20"/>
        </a:solidFill>
      </dgm:spPr>
      <dgm:t>
        <a:bodyPr/>
        <a:lstStyle/>
        <a:p>
          <a:r>
            <a:rPr lang="en-US"/>
            <a:t>Dual-Stage EfficientNetB3 Pipeline:</a:t>
          </a:r>
        </a:p>
      </dgm:t>
    </dgm:pt>
    <dgm:pt modelId="{16F7F6A3-14DD-47E5-96C2-DEA57670587C}" type="parTrans" cxnId="{540A8999-E331-4794-9596-1B59B7ADF9FC}">
      <dgm:prSet/>
      <dgm:spPr/>
      <dgm:t>
        <a:bodyPr/>
        <a:lstStyle/>
        <a:p>
          <a:endParaRPr lang="en-US"/>
        </a:p>
      </dgm:t>
    </dgm:pt>
    <dgm:pt modelId="{BED24748-D6EB-4F79-AE4D-F3E792C0D466}" type="sibTrans" cxnId="{540A8999-E331-4794-9596-1B59B7ADF9FC}">
      <dgm:prSet/>
      <dgm:spPr>
        <a:solidFill>
          <a:srgbClr val="1B5E20">
            <a:alpha val="69804"/>
          </a:srgbClr>
        </a:solidFill>
      </dgm:spPr>
      <dgm:t>
        <a:bodyPr/>
        <a:lstStyle/>
        <a:p>
          <a:endParaRPr lang="en-US"/>
        </a:p>
      </dgm:t>
    </dgm:pt>
    <dgm:pt modelId="{AA99CC14-3567-4D28-A081-A30D9ABE09C9}">
      <dgm:prSet/>
      <dgm:spPr>
        <a:solidFill>
          <a:srgbClr val="1B5E20"/>
        </a:solidFill>
      </dgm:spPr>
      <dgm:t>
        <a:bodyPr/>
        <a:lstStyle/>
        <a:p>
          <a:r>
            <a:rPr lang="en-US" dirty="0"/>
            <a:t>Stage 1: Crop Classification</a:t>
          </a:r>
        </a:p>
      </dgm:t>
    </dgm:pt>
    <dgm:pt modelId="{1E9D06B6-611D-4571-8173-C1D6727ACF3E}" type="parTrans" cxnId="{1E928F2C-9E1B-4C20-8C4A-71DB6D2456FE}">
      <dgm:prSet/>
      <dgm:spPr/>
      <dgm:t>
        <a:bodyPr/>
        <a:lstStyle/>
        <a:p>
          <a:endParaRPr lang="en-US"/>
        </a:p>
      </dgm:t>
    </dgm:pt>
    <dgm:pt modelId="{320EC7E0-B1AD-41D1-8CE8-DB9EEBFB208F}" type="sibTrans" cxnId="{1E928F2C-9E1B-4C20-8C4A-71DB6D2456FE}">
      <dgm:prSet/>
      <dgm:spPr/>
      <dgm:t>
        <a:bodyPr/>
        <a:lstStyle/>
        <a:p>
          <a:endParaRPr lang="en-US"/>
        </a:p>
      </dgm:t>
    </dgm:pt>
    <dgm:pt modelId="{7F763504-C1F4-4E99-85BB-51AEB3CFE47E}">
      <dgm:prSet/>
      <dgm:spPr>
        <a:solidFill>
          <a:srgbClr val="1B5E20"/>
        </a:solidFill>
      </dgm:spPr>
      <dgm:t>
        <a:bodyPr/>
        <a:lstStyle/>
        <a:p>
          <a:r>
            <a:rPr lang="en-US"/>
            <a:t>- Identifies crop from 11 classes</a:t>
          </a:r>
        </a:p>
      </dgm:t>
    </dgm:pt>
    <dgm:pt modelId="{4D68DA15-C3BC-4F2C-8EC4-72088B4C1429}" type="parTrans" cxnId="{0ECE6FBB-13D4-42F0-AA49-B2474445C2EC}">
      <dgm:prSet/>
      <dgm:spPr/>
      <dgm:t>
        <a:bodyPr/>
        <a:lstStyle/>
        <a:p>
          <a:endParaRPr lang="en-US"/>
        </a:p>
      </dgm:t>
    </dgm:pt>
    <dgm:pt modelId="{57DB7E38-2BAD-4E07-9481-BF9CAED65441}" type="sibTrans" cxnId="{0ECE6FBB-13D4-42F0-AA49-B2474445C2EC}">
      <dgm:prSet/>
      <dgm:spPr/>
      <dgm:t>
        <a:bodyPr/>
        <a:lstStyle/>
        <a:p>
          <a:endParaRPr lang="en-US"/>
        </a:p>
      </dgm:t>
    </dgm:pt>
    <dgm:pt modelId="{5D781CFF-CE3F-4084-8439-1EA1F5D864F1}">
      <dgm:prSet/>
      <dgm:spPr>
        <a:solidFill>
          <a:srgbClr val="1B5E20"/>
        </a:solidFill>
      </dgm:spPr>
      <dgm:t>
        <a:bodyPr/>
        <a:lstStyle/>
        <a:p>
          <a:r>
            <a:rPr lang="en-US"/>
            <a:t>- Confidence threshold: &gt;= 45%</a:t>
          </a:r>
        </a:p>
      </dgm:t>
    </dgm:pt>
    <dgm:pt modelId="{FA14A6CB-10FB-4CF9-8759-59C662749082}" type="parTrans" cxnId="{B7EE8366-4296-441C-90B1-E0069D3E65A8}">
      <dgm:prSet/>
      <dgm:spPr/>
      <dgm:t>
        <a:bodyPr/>
        <a:lstStyle/>
        <a:p>
          <a:endParaRPr lang="en-US"/>
        </a:p>
      </dgm:t>
    </dgm:pt>
    <dgm:pt modelId="{A187D977-49F1-4E53-9C17-326E484A7D54}" type="sibTrans" cxnId="{B7EE8366-4296-441C-90B1-E0069D3E65A8}">
      <dgm:prSet/>
      <dgm:spPr/>
      <dgm:t>
        <a:bodyPr/>
        <a:lstStyle/>
        <a:p>
          <a:endParaRPr lang="en-US"/>
        </a:p>
      </dgm:t>
    </dgm:pt>
    <dgm:pt modelId="{84C56E04-4E04-49FF-9F28-C94578ABC5CF}">
      <dgm:prSet/>
      <dgm:spPr>
        <a:solidFill>
          <a:srgbClr val="1B5E20"/>
        </a:solidFill>
      </dgm:spPr>
      <dgm:t>
        <a:bodyPr/>
        <a:lstStyle/>
        <a:p>
          <a:r>
            <a:rPr lang="en-US"/>
            <a:t>Stage 2: Disease Diagnosis</a:t>
          </a:r>
        </a:p>
      </dgm:t>
    </dgm:pt>
    <dgm:pt modelId="{9A983698-4B26-4D90-89B4-E09FCFEE950B}" type="parTrans" cxnId="{514D0376-C494-4D34-B5DF-08FD481BE46C}">
      <dgm:prSet/>
      <dgm:spPr/>
      <dgm:t>
        <a:bodyPr/>
        <a:lstStyle/>
        <a:p>
          <a:endParaRPr lang="en-US"/>
        </a:p>
      </dgm:t>
    </dgm:pt>
    <dgm:pt modelId="{6AE89CC5-4F23-4C38-ADBE-F8D8EE389584}" type="sibTrans" cxnId="{514D0376-C494-4D34-B5DF-08FD481BE46C}">
      <dgm:prSet/>
      <dgm:spPr/>
      <dgm:t>
        <a:bodyPr/>
        <a:lstStyle/>
        <a:p>
          <a:endParaRPr lang="en-US"/>
        </a:p>
      </dgm:t>
    </dgm:pt>
    <dgm:pt modelId="{6BF19901-F995-4A8B-AF6E-7C2C3634C045}">
      <dgm:prSet/>
      <dgm:spPr>
        <a:solidFill>
          <a:srgbClr val="1B5E20"/>
        </a:solidFill>
      </dgm:spPr>
      <dgm:t>
        <a:bodyPr/>
        <a:lstStyle/>
        <a:p>
          <a:r>
            <a:rPr lang="en-US"/>
            <a:t>- Diagnoses from 76 conditions</a:t>
          </a:r>
        </a:p>
      </dgm:t>
    </dgm:pt>
    <dgm:pt modelId="{6CE1A522-7C75-46F6-8458-92DCA6288028}" type="parTrans" cxnId="{08C37A04-030C-445A-A5E1-0640838DF6F9}">
      <dgm:prSet/>
      <dgm:spPr/>
      <dgm:t>
        <a:bodyPr/>
        <a:lstStyle/>
        <a:p>
          <a:endParaRPr lang="en-US"/>
        </a:p>
      </dgm:t>
    </dgm:pt>
    <dgm:pt modelId="{E132168D-239B-49AA-9FD3-3F7EF0BBB4FA}" type="sibTrans" cxnId="{08C37A04-030C-445A-A5E1-0640838DF6F9}">
      <dgm:prSet/>
      <dgm:spPr/>
      <dgm:t>
        <a:bodyPr/>
        <a:lstStyle/>
        <a:p>
          <a:endParaRPr lang="en-US"/>
        </a:p>
      </dgm:t>
    </dgm:pt>
    <dgm:pt modelId="{C7AC0430-324A-4CCD-BF7F-D6EFDD364B7A}">
      <dgm:prSet/>
      <dgm:spPr>
        <a:solidFill>
          <a:srgbClr val="1B5E20"/>
        </a:solidFill>
      </dgm:spPr>
      <dgm:t>
        <a:bodyPr/>
        <a:lstStyle/>
        <a:p>
          <a:r>
            <a:rPr lang="en-US"/>
            <a:t>- Confidence threshold: &gt;= 35%</a:t>
          </a:r>
        </a:p>
      </dgm:t>
    </dgm:pt>
    <dgm:pt modelId="{0355A500-6CA0-4B2B-BE22-2BB236CC96EE}" type="parTrans" cxnId="{FF151C39-A897-415F-AC27-803AA97DDBF3}">
      <dgm:prSet/>
      <dgm:spPr/>
      <dgm:t>
        <a:bodyPr/>
        <a:lstStyle/>
        <a:p>
          <a:endParaRPr lang="en-US"/>
        </a:p>
      </dgm:t>
    </dgm:pt>
    <dgm:pt modelId="{A931FC56-C195-455D-B598-8CD4A2A5DE0E}" type="sibTrans" cxnId="{FF151C39-A897-415F-AC27-803AA97DDBF3}">
      <dgm:prSet/>
      <dgm:spPr/>
      <dgm:t>
        <a:bodyPr/>
        <a:lstStyle/>
        <a:p>
          <a:endParaRPr lang="en-US"/>
        </a:p>
      </dgm:t>
    </dgm:pt>
    <dgm:pt modelId="{E758C335-89B7-4169-B2BC-10FB7CC54B26}">
      <dgm:prSet/>
      <dgm:spPr>
        <a:solidFill>
          <a:srgbClr val="1B5E20"/>
        </a:solidFill>
      </dgm:spPr>
      <dgm:t>
        <a:bodyPr/>
        <a:lstStyle/>
        <a:p>
          <a:r>
            <a:rPr lang="en-US"/>
            <a:t>- Dynamic fallback for edge cases</a:t>
          </a:r>
        </a:p>
      </dgm:t>
    </dgm:pt>
    <dgm:pt modelId="{7825F153-FAFE-4A4A-90C0-12AD4129C3B2}" type="parTrans" cxnId="{D635CE9C-142D-4104-9C5E-52A2A7D2724F}">
      <dgm:prSet/>
      <dgm:spPr/>
      <dgm:t>
        <a:bodyPr/>
        <a:lstStyle/>
        <a:p>
          <a:endParaRPr lang="en-US"/>
        </a:p>
      </dgm:t>
    </dgm:pt>
    <dgm:pt modelId="{544261C2-0400-4E95-A81E-E310A1748E98}" type="sibTrans" cxnId="{D635CE9C-142D-4104-9C5E-52A2A7D2724F}">
      <dgm:prSet/>
      <dgm:spPr/>
      <dgm:t>
        <a:bodyPr/>
        <a:lstStyle/>
        <a:p>
          <a:endParaRPr lang="en-US"/>
        </a:p>
      </dgm:t>
    </dgm:pt>
    <dgm:pt modelId="{4DD496E6-C480-4C7F-A007-C467A14668CC}">
      <dgm:prSet/>
      <dgm:spPr>
        <a:solidFill>
          <a:srgbClr val="1B5E20"/>
        </a:solidFill>
      </dgm:spPr>
      <dgm:t>
        <a:bodyPr/>
        <a:lstStyle/>
        <a:p>
          <a:r>
            <a:rPr lang="en-US"/>
            <a:t>Input: 300x300 RGB normalized image</a:t>
          </a:r>
        </a:p>
      </dgm:t>
    </dgm:pt>
    <dgm:pt modelId="{CCAF1B52-4EBB-4172-A28C-83EF003577A1}" type="parTrans" cxnId="{6CD7E839-995A-4133-AED4-FBBF0E861F5C}">
      <dgm:prSet/>
      <dgm:spPr/>
      <dgm:t>
        <a:bodyPr/>
        <a:lstStyle/>
        <a:p>
          <a:endParaRPr lang="en-US"/>
        </a:p>
      </dgm:t>
    </dgm:pt>
    <dgm:pt modelId="{589E86C3-336F-49C9-ACA7-D91C1E19AF33}" type="sibTrans" cxnId="{6CD7E839-995A-4133-AED4-FBBF0E861F5C}">
      <dgm:prSet/>
      <dgm:spPr/>
      <dgm:t>
        <a:bodyPr/>
        <a:lstStyle/>
        <a:p>
          <a:endParaRPr lang="en-US"/>
        </a:p>
      </dgm:t>
    </dgm:pt>
    <dgm:pt modelId="{E8DB5FCB-E3C1-4240-AC69-083AFC2FE576}">
      <dgm:prSet/>
      <dgm:spPr>
        <a:solidFill>
          <a:srgbClr val="1B5E20"/>
        </a:solidFill>
      </dgm:spPr>
      <dgm:t>
        <a:bodyPr/>
        <a:lstStyle/>
        <a:p>
          <a:r>
            <a:rPr lang="en-US"/>
            <a:t>Output: crop, disease, confidence</a:t>
          </a:r>
        </a:p>
      </dgm:t>
    </dgm:pt>
    <dgm:pt modelId="{1FC01D68-7B70-49B8-9D5F-BABE56E7E4E7}" type="parTrans" cxnId="{0EF9772F-4761-4AEC-B7E2-1585CBB8D0F6}">
      <dgm:prSet/>
      <dgm:spPr/>
      <dgm:t>
        <a:bodyPr/>
        <a:lstStyle/>
        <a:p>
          <a:endParaRPr lang="en-US"/>
        </a:p>
      </dgm:t>
    </dgm:pt>
    <dgm:pt modelId="{CCA6E352-BE54-47E1-965C-DDA60ED8A1AE}" type="sibTrans" cxnId="{0EF9772F-4761-4AEC-B7E2-1585CBB8D0F6}">
      <dgm:prSet/>
      <dgm:spPr/>
      <dgm:t>
        <a:bodyPr/>
        <a:lstStyle/>
        <a:p>
          <a:endParaRPr lang="en-US"/>
        </a:p>
      </dgm:t>
    </dgm:pt>
    <dgm:pt modelId="{5D9947C1-279F-4FA6-B110-FC2DBC8BA4CA}" type="pres">
      <dgm:prSet presAssocID="{00743EFD-727F-4A7E-A3D2-A805DD7BFF3D}" presName="Name0" presStyleCnt="0">
        <dgm:presLayoutVars>
          <dgm:dir/>
          <dgm:resizeHandles val="exact"/>
        </dgm:presLayoutVars>
      </dgm:prSet>
      <dgm:spPr/>
    </dgm:pt>
    <dgm:pt modelId="{5A6948A8-9B5C-4106-9B97-9EFDF5E13715}" type="pres">
      <dgm:prSet presAssocID="{00743EFD-727F-4A7E-A3D2-A805DD7BFF3D}" presName="cycle" presStyleCnt="0"/>
      <dgm:spPr/>
    </dgm:pt>
    <dgm:pt modelId="{395EA7AC-4320-43AC-B2AC-B85E2A688A61}" type="pres">
      <dgm:prSet presAssocID="{8D5E1960-DA94-4F03-BBE6-89E6F4BF0EDC}" presName="nodeFirstNode" presStyleLbl="node1" presStyleIdx="0" presStyleCnt="10">
        <dgm:presLayoutVars>
          <dgm:bulletEnabled val="1"/>
        </dgm:presLayoutVars>
      </dgm:prSet>
      <dgm:spPr/>
    </dgm:pt>
    <dgm:pt modelId="{979BC9C5-1A36-47D0-AA5F-BF73E67445F0}" type="pres">
      <dgm:prSet presAssocID="{BED24748-D6EB-4F79-AE4D-F3E792C0D466}" presName="sibTransFirstNode" presStyleLbl="bgShp" presStyleIdx="0" presStyleCnt="1"/>
      <dgm:spPr/>
    </dgm:pt>
    <dgm:pt modelId="{B7B51A2A-2AC4-4535-92C4-FE62776BC1B3}" type="pres">
      <dgm:prSet presAssocID="{AA99CC14-3567-4D28-A081-A30D9ABE09C9}" presName="nodeFollowingNodes" presStyleLbl="node1" presStyleIdx="1" presStyleCnt="10">
        <dgm:presLayoutVars>
          <dgm:bulletEnabled val="1"/>
        </dgm:presLayoutVars>
      </dgm:prSet>
      <dgm:spPr/>
    </dgm:pt>
    <dgm:pt modelId="{AFECE015-EA1A-431D-B8DF-877C094D2FE5}" type="pres">
      <dgm:prSet presAssocID="{7F763504-C1F4-4E99-85BB-51AEB3CFE47E}" presName="nodeFollowingNodes" presStyleLbl="node1" presStyleIdx="2" presStyleCnt="10">
        <dgm:presLayoutVars>
          <dgm:bulletEnabled val="1"/>
        </dgm:presLayoutVars>
      </dgm:prSet>
      <dgm:spPr/>
    </dgm:pt>
    <dgm:pt modelId="{E9A463E0-9B6A-43C6-A561-60F30A74EA83}" type="pres">
      <dgm:prSet presAssocID="{5D781CFF-CE3F-4084-8439-1EA1F5D864F1}" presName="nodeFollowingNodes" presStyleLbl="node1" presStyleIdx="3" presStyleCnt="10">
        <dgm:presLayoutVars>
          <dgm:bulletEnabled val="1"/>
        </dgm:presLayoutVars>
      </dgm:prSet>
      <dgm:spPr/>
    </dgm:pt>
    <dgm:pt modelId="{81A5C64B-66EC-4391-82F7-BEF501023A85}" type="pres">
      <dgm:prSet presAssocID="{84C56E04-4E04-49FF-9F28-C94578ABC5CF}" presName="nodeFollowingNodes" presStyleLbl="node1" presStyleIdx="4" presStyleCnt="10">
        <dgm:presLayoutVars>
          <dgm:bulletEnabled val="1"/>
        </dgm:presLayoutVars>
      </dgm:prSet>
      <dgm:spPr/>
    </dgm:pt>
    <dgm:pt modelId="{06878AEF-09B7-4909-BE11-152B1271819D}" type="pres">
      <dgm:prSet presAssocID="{6BF19901-F995-4A8B-AF6E-7C2C3634C045}" presName="nodeFollowingNodes" presStyleLbl="node1" presStyleIdx="5" presStyleCnt="10">
        <dgm:presLayoutVars>
          <dgm:bulletEnabled val="1"/>
        </dgm:presLayoutVars>
      </dgm:prSet>
      <dgm:spPr/>
    </dgm:pt>
    <dgm:pt modelId="{EB35A3F3-C769-49FE-A965-62E5D80F3591}" type="pres">
      <dgm:prSet presAssocID="{C7AC0430-324A-4CCD-BF7F-D6EFDD364B7A}" presName="nodeFollowingNodes" presStyleLbl="node1" presStyleIdx="6" presStyleCnt="10">
        <dgm:presLayoutVars>
          <dgm:bulletEnabled val="1"/>
        </dgm:presLayoutVars>
      </dgm:prSet>
      <dgm:spPr/>
    </dgm:pt>
    <dgm:pt modelId="{78FAD4F5-35F9-41BD-9088-89A97E80EB76}" type="pres">
      <dgm:prSet presAssocID="{E758C335-89B7-4169-B2BC-10FB7CC54B26}" presName="nodeFollowingNodes" presStyleLbl="node1" presStyleIdx="7" presStyleCnt="10">
        <dgm:presLayoutVars>
          <dgm:bulletEnabled val="1"/>
        </dgm:presLayoutVars>
      </dgm:prSet>
      <dgm:spPr/>
    </dgm:pt>
    <dgm:pt modelId="{8362D904-5F38-4023-9F0E-95006BAF89E1}" type="pres">
      <dgm:prSet presAssocID="{4DD496E6-C480-4C7F-A007-C467A14668CC}" presName="nodeFollowingNodes" presStyleLbl="node1" presStyleIdx="8" presStyleCnt="10">
        <dgm:presLayoutVars>
          <dgm:bulletEnabled val="1"/>
        </dgm:presLayoutVars>
      </dgm:prSet>
      <dgm:spPr/>
    </dgm:pt>
    <dgm:pt modelId="{8A90547D-9EAE-4077-92EB-16C75BBE41BA}" type="pres">
      <dgm:prSet presAssocID="{E8DB5FCB-E3C1-4240-AC69-083AFC2FE576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49E57A01-AE61-45B5-9DB9-6BB174621A62}" type="presOf" srcId="{4DD496E6-C480-4C7F-A007-C467A14668CC}" destId="{8362D904-5F38-4023-9F0E-95006BAF89E1}" srcOrd="0" destOrd="0" presId="urn:microsoft.com/office/officeart/2005/8/layout/cycle3"/>
    <dgm:cxn modelId="{08C37A04-030C-445A-A5E1-0640838DF6F9}" srcId="{00743EFD-727F-4A7E-A3D2-A805DD7BFF3D}" destId="{6BF19901-F995-4A8B-AF6E-7C2C3634C045}" srcOrd="5" destOrd="0" parTransId="{6CE1A522-7C75-46F6-8458-92DCA6288028}" sibTransId="{E132168D-239B-49AA-9FD3-3F7EF0BBB4FA}"/>
    <dgm:cxn modelId="{03A1A114-830C-483A-8FA3-7FBE8BFE0D8D}" type="presOf" srcId="{E8DB5FCB-E3C1-4240-AC69-083AFC2FE576}" destId="{8A90547D-9EAE-4077-92EB-16C75BBE41BA}" srcOrd="0" destOrd="0" presId="urn:microsoft.com/office/officeart/2005/8/layout/cycle3"/>
    <dgm:cxn modelId="{1E928F2C-9E1B-4C20-8C4A-71DB6D2456FE}" srcId="{00743EFD-727F-4A7E-A3D2-A805DD7BFF3D}" destId="{AA99CC14-3567-4D28-A081-A30D9ABE09C9}" srcOrd="1" destOrd="0" parTransId="{1E9D06B6-611D-4571-8173-C1D6727ACF3E}" sibTransId="{320EC7E0-B1AD-41D1-8CE8-DB9EEBFB208F}"/>
    <dgm:cxn modelId="{0EF9772F-4761-4AEC-B7E2-1585CBB8D0F6}" srcId="{00743EFD-727F-4A7E-A3D2-A805DD7BFF3D}" destId="{E8DB5FCB-E3C1-4240-AC69-083AFC2FE576}" srcOrd="9" destOrd="0" parTransId="{1FC01D68-7B70-49B8-9D5F-BABE56E7E4E7}" sibTransId="{CCA6E352-BE54-47E1-965C-DDA60ED8A1AE}"/>
    <dgm:cxn modelId="{FF151C39-A897-415F-AC27-803AA97DDBF3}" srcId="{00743EFD-727F-4A7E-A3D2-A805DD7BFF3D}" destId="{C7AC0430-324A-4CCD-BF7F-D6EFDD364B7A}" srcOrd="6" destOrd="0" parTransId="{0355A500-6CA0-4B2B-BE22-2BB236CC96EE}" sibTransId="{A931FC56-C195-455D-B598-8CD4A2A5DE0E}"/>
    <dgm:cxn modelId="{6CD7E839-995A-4133-AED4-FBBF0E861F5C}" srcId="{00743EFD-727F-4A7E-A3D2-A805DD7BFF3D}" destId="{4DD496E6-C480-4C7F-A007-C467A14668CC}" srcOrd="8" destOrd="0" parTransId="{CCAF1B52-4EBB-4172-A28C-83EF003577A1}" sibTransId="{589E86C3-336F-49C9-ACA7-D91C1E19AF33}"/>
    <dgm:cxn modelId="{8A41FE41-265D-4713-B245-B148A93B17C9}" type="presOf" srcId="{8D5E1960-DA94-4F03-BBE6-89E6F4BF0EDC}" destId="{395EA7AC-4320-43AC-B2AC-B85E2A688A61}" srcOrd="0" destOrd="0" presId="urn:microsoft.com/office/officeart/2005/8/layout/cycle3"/>
    <dgm:cxn modelId="{B7EE8366-4296-441C-90B1-E0069D3E65A8}" srcId="{00743EFD-727F-4A7E-A3D2-A805DD7BFF3D}" destId="{5D781CFF-CE3F-4084-8439-1EA1F5D864F1}" srcOrd="3" destOrd="0" parTransId="{FA14A6CB-10FB-4CF9-8759-59C662749082}" sibTransId="{A187D977-49F1-4E53-9C17-326E484A7D54}"/>
    <dgm:cxn modelId="{BAB4CF49-668E-4909-81DC-1654EA79846C}" type="presOf" srcId="{7F763504-C1F4-4E99-85BB-51AEB3CFE47E}" destId="{AFECE015-EA1A-431D-B8DF-877C094D2FE5}" srcOrd="0" destOrd="0" presId="urn:microsoft.com/office/officeart/2005/8/layout/cycle3"/>
    <dgm:cxn modelId="{514D0376-C494-4D34-B5DF-08FD481BE46C}" srcId="{00743EFD-727F-4A7E-A3D2-A805DD7BFF3D}" destId="{84C56E04-4E04-49FF-9F28-C94578ABC5CF}" srcOrd="4" destOrd="0" parTransId="{9A983698-4B26-4D90-89B4-E09FCFEE950B}" sibTransId="{6AE89CC5-4F23-4C38-ADBE-F8D8EE389584}"/>
    <dgm:cxn modelId="{03F58278-430C-4F91-B7A2-07AB407F91AB}" type="presOf" srcId="{84C56E04-4E04-49FF-9F28-C94578ABC5CF}" destId="{81A5C64B-66EC-4391-82F7-BEF501023A85}" srcOrd="0" destOrd="0" presId="urn:microsoft.com/office/officeart/2005/8/layout/cycle3"/>
    <dgm:cxn modelId="{E8A09558-50B9-4E0C-999A-C2880D12B01F}" type="presOf" srcId="{AA99CC14-3567-4D28-A081-A30D9ABE09C9}" destId="{B7B51A2A-2AC4-4535-92C4-FE62776BC1B3}" srcOrd="0" destOrd="0" presId="urn:microsoft.com/office/officeart/2005/8/layout/cycle3"/>
    <dgm:cxn modelId="{D48C957A-AECC-42FF-ADE3-4E764BDF54A1}" type="presOf" srcId="{BED24748-D6EB-4F79-AE4D-F3E792C0D466}" destId="{979BC9C5-1A36-47D0-AA5F-BF73E67445F0}" srcOrd="0" destOrd="0" presId="urn:microsoft.com/office/officeart/2005/8/layout/cycle3"/>
    <dgm:cxn modelId="{96691999-0DE0-4E77-9563-8E70E6F20999}" type="presOf" srcId="{E758C335-89B7-4169-B2BC-10FB7CC54B26}" destId="{78FAD4F5-35F9-41BD-9088-89A97E80EB76}" srcOrd="0" destOrd="0" presId="urn:microsoft.com/office/officeart/2005/8/layout/cycle3"/>
    <dgm:cxn modelId="{540A8999-E331-4794-9596-1B59B7ADF9FC}" srcId="{00743EFD-727F-4A7E-A3D2-A805DD7BFF3D}" destId="{8D5E1960-DA94-4F03-BBE6-89E6F4BF0EDC}" srcOrd="0" destOrd="0" parTransId="{16F7F6A3-14DD-47E5-96C2-DEA57670587C}" sibTransId="{BED24748-D6EB-4F79-AE4D-F3E792C0D466}"/>
    <dgm:cxn modelId="{D635CE9C-142D-4104-9C5E-52A2A7D2724F}" srcId="{00743EFD-727F-4A7E-A3D2-A805DD7BFF3D}" destId="{E758C335-89B7-4169-B2BC-10FB7CC54B26}" srcOrd="7" destOrd="0" parTransId="{7825F153-FAFE-4A4A-90C0-12AD4129C3B2}" sibTransId="{544261C2-0400-4E95-A81E-E310A1748E98}"/>
    <dgm:cxn modelId="{0ECE6FBB-13D4-42F0-AA49-B2474445C2EC}" srcId="{00743EFD-727F-4A7E-A3D2-A805DD7BFF3D}" destId="{7F763504-C1F4-4E99-85BB-51AEB3CFE47E}" srcOrd="2" destOrd="0" parTransId="{4D68DA15-C3BC-4F2C-8EC4-72088B4C1429}" sibTransId="{57DB7E38-2BAD-4E07-9481-BF9CAED65441}"/>
    <dgm:cxn modelId="{2DA31ABD-CA74-48A3-859E-DF3C11FEE9AF}" type="presOf" srcId="{C7AC0430-324A-4CCD-BF7F-D6EFDD364B7A}" destId="{EB35A3F3-C769-49FE-A965-62E5D80F3591}" srcOrd="0" destOrd="0" presId="urn:microsoft.com/office/officeart/2005/8/layout/cycle3"/>
    <dgm:cxn modelId="{3F15D4D2-3111-4EF0-B866-FB67D2EC10AE}" type="presOf" srcId="{6BF19901-F995-4A8B-AF6E-7C2C3634C045}" destId="{06878AEF-09B7-4909-BE11-152B1271819D}" srcOrd="0" destOrd="0" presId="urn:microsoft.com/office/officeart/2005/8/layout/cycle3"/>
    <dgm:cxn modelId="{6A86CAD5-769E-4C81-B5FE-85FEFB4891B8}" type="presOf" srcId="{5D781CFF-CE3F-4084-8439-1EA1F5D864F1}" destId="{E9A463E0-9B6A-43C6-A561-60F30A74EA83}" srcOrd="0" destOrd="0" presId="urn:microsoft.com/office/officeart/2005/8/layout/cycle3"/>
    <dgm:cxn modelId="{74096AF4-C90A-43C0-92EE-540BF245DC06}" type="presOf" srcId="{00743EFD-727F-4A7E-A3D2-A805DD7BFF3D}" destId="{5D9947C1-279F-4FA6-B110-FC2DBC8BA4CA}" srcOrd="0" destOrd="0" presId="urn:microsoft.com/office/officeart/2005/8/layout/cycle3"/>
    <dgm:cxn modelId="{EC79C7A3-5C22-437B-9F6B-F9405A936A51}" type="presParOf" srcId="{5D9947C1-279F-4FA6-B110-FC2DBC8BA4CA}" destId="{5A6948A8-9B5C-4106-9B97-9EFDF5E13715}" srcOrd="0" destOrd="0" presId="urn:microsoft.com/office/officeart/2005/8/layout/cycle3"/>
    <dgm:cxn modelId="{07785814-7A26-49FA-826C-24930704FA73}" type="presParOf" srcId="{5A6948A8-9B5C-4106-9B97-9EFDF5E13715}" destId="{395EA7AC-4320-43AC-B2AC-B85E2A688A61}" srcOrd="0" destOrd="0" presId="urn:microsoft.com/office/officeart/2005/8/layout/cycle3"/>
    <dgm:cxn modelId="{17B14E72-0975-4C2C-A730-1DFCBC86486E}" type="presParOf" srcId="{5A6948A8-9B5C-4106-9B97-9EFDF5E13715}" destId="{979BC9C5-1A36-47D0-AA5F-BF73E67445F0}" srcOrd="1" destOrd="0" presId="urn:microsoft.com/office/officeart/2005/8/layout/cycle3"/>
    <dgm:cxn modelId="{D098EC86-3FD8-4A6E-ADE6-5797D09B6E87}" type="presParOf" srcId="{5A6948A8-9B5C-4106-9B97-9EFDF5E13715}" destId="{B7B51A2A-2AC4-4535-92C4-FE62776BC1B3}" srcOrd="2" destOrd="0" presId="urn:microsoft.com/office/officeart/2005/8/layout/cycle3"/>
    <dgm:cxn modelId="{359FB015-F75C-4C3A-8676-22458F055E50}" type="presParOf" srcId="{5A6948A8-9B5C-4106-9B97-9EFDF5E13715}" destId="{AFECE015-EA1A-431D-B8DF-877C094D2FE5}" srcOrd="3" destOrd="0" presId="urn:microsoft.com/office/officeart/2005/8/layout/cycle3"/>
    <dgm:cxn modelId="{CA5734C0-9F5D-4BC3-82A5-CC07112B965A}" type="presParOf" srcId="{5A6948A8-9B5C-4106-9B97-9EFDF5E13715}" destId="{E9A463E0-9B6A-43C6-A561-60F30A74EA83}" srcOrd="4" destOrd="0" presId="urn:microsoft.com/office/officeart/2005/8/layout/cycle3"/>
    <dgm:cxn modelId="{696D8F47-4680-4A04-9D9C-D157435D2A6C}" type="presParOf" srcId="{5A6948A8-9B5C-4106-9B97-9EFDF5E13715}" destId="{81A5C64B-66EC-4391-82F7-BEF501023A85}" srcOrd="5" destOrd="0" presId="urn:microsoft.com/office/officeart/2005/8/layout/cycle3"/>
    <dgm:cxn modelId="{8E96F30E-5272-452C-9E15-35B4AF09DD18}" type="presParOf" srcId="{5A6948A8-9B5C-4106-9B97-9EFDF5E13715}" destId="{06878AEF-09B7-4909-BE11-152B1271819D}" srcOrd="6" destOrd="0" presId="urn:microsoft.com/office/officeart/2005/8/layout/cycle3"/>
    <dgm:cxn modelId="{472EDC3C-FCFB-4FF8-93ED-C4E60055678C}" type="presParOf" srcId="{5A6948A8-9B5C-4106-9B97-9EFDF5E13715}" destId="{EB35A3F3-C769-49FE-A965-62E5D80F3591}" srcOrd="7" destOrd="0" presId="urn:microsoft.com/office/officeart/2005/8/layout/cycle3"/>
    <dgm:cxn modelId="{4D26A0FD-4C31-4BEF-860B-CF25E9802B0B}" type="presParOf" srcId="{5A6948A8-9B5C-4106-9B97-9EFDF5E13715}" destId="{78FAD4F5-35F9-41BD-9088-89A97E80EB76}" srcOrd="8" destOrd="0" presId="urn:microsoft.com/office/officeart/2005/8/layout/cycle3"/>
    <dgm:cxn modelId="{F0AEDED4-34B0-4C25-9114-F6EFA246CB37}" type="presParOf" srcId="{5A6948A8-9B5C-4106-9B97-9EFDF5E13715}" destId="{8362D904-5F38-4023-9F0E-95006BAF89E1}" srcOrd="9" destOrd="0" presId="urn:microsoft.com/office/officeart/2005/8/layout/cycle3"/>
    <dgm:cxn modelId="{F07824F5-0CB5-455C-8167-E6967EE93394}" type="presParOf" srcId="{5A6948A8-9B5C-4106-9B97-9EFDF5E13715}" destId="{8A90547D-9EAE-4077-92EB-16C75BBE41BA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BC9C5-1A36-47D0-AA5F-BF73E67445F0}">
      <dsp:nvSpPr>
        <dsp:cNvPr id="0" name=""/>
        <dsp:cNvSpPr/>
      </dsp:nvSpPr>
      <dsp:spPr>
        <a:xfrm>
          <a:off x="3042474" y="-59833"/>
          <a:ext cx="4650106" cy="4650106"/>
        </a:xfrm>
        <a:prstGeom prst="circularArrow">
          <a:avLst>
            <a:gd name="adj1" fmla="val 5544"/>
            <a:gd name="adj2" fmla="val 330680"/>
            <a:gd name="adj3" fmla="val 14838922"/>
            <a:gd name="adj4" fmla="val 16767302"/>
            <a:gd name="adj5" fmla="val 5757"/>
          </a:avLst>
        </a:prstGeom>
        <a:solidFill>
          <a:srgbClr val="1B5E20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EA7AC-4320-43AC-B2AC-B85E2A688A61}">
      <dsp:nvSpPr>
        <dsp:cNvPr id="0" name=""/>
        <dsp:cNvSpPr/>
      </dsp:nvSpPr>
      <dsp:spPr>
        <a:xfrm>
          <a:off x="4811904" y="1358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Dual-Stage EfficientNetB3 Pipeline:</a:t>
          </a:r>
        </a:p>
      </dsp:txBody>
      <dsp:txXfrm>
        <a:off x="4839027" y="28481"/>
        <a:ext cx="1057000" cy="501377"/>
      </dsp:txXfrm>
    </dsp:sp>
    <dsp:sp modelId="{B7B51A2A-2AC4-4535-92C4-FE62776BC1B3}">
      <dsp:nvSpPr>
        <dsp:cNvPr id="0" name=""/>
        <dsp:cNvSpPr/>
      </dsp:nvSpPr>
      <dsp:spPr>
        <a:xfrm>
          <a:off x="5977476" y="380075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Stage 1: Crop Classification</a:t>
          </a:r>
        </a:p>
      </dsp:txBody>
      <dsp:txXfrm>
        <a:off x="6004599" y="407198"/>
        <a:ext cx="1057000" cy="501377"/>
      </dsp:txXfrm>
    </dsp:sp>
    <dsp:sp modelId="{AFECE015-EA1A-431D-B8DF-877C094D2FE5}">
      <dsp:nvSpPr>
        <dsp:cNvPr id="0" name=""/>
        <dsp:cNvSpPr/>
      </dsp:nvSpPr>
      <dsp:spPr>
        <a:xfrm>
          <a:off x="6697838" y="1371569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Identifies crop from 11 classes</a:t>
          </a:r>
        </a:p>
      </dsp:txBody>
      <dsp:txXfrm>
        <a:off x="6724961" y="1398692"/>
        <a:ext cx="1057000" cy="501377"/>
      </dsp:txXfrm>
    </dsp:sp>
    <dsp:sp modelId="{E9A463E0-9B6A-43C6-A561-60F30A74EA83}">
      <dsp:nvSpPr>
        <dsp:cNvPr id="0" name=""/>
        <dsp:cNvSpPr/>
      </dsp:nvSpPr>
      <dsp:spPr>
        <a:xfrm>
          <a:off x="6697838" y="2597122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Confidence threshold: &gt;= 45%</a:t>
          </a:r>
        </a:p>
      </dsp:txBody>
      <dsp:txXfrm>
        <a:off x="6724961" y="2624245"/>
        <a:ext cx="1057000" cy="501377"/>
      </dsp:txXfrm>
    </dsp:sp>
    <dsp:sp modelId="{81A5C64B-66EC-4391-82F7-BEF501023A85}">
      <dsp:nvSpPr>
        <dsp:cNvPr id="0" name=""/>
        <dsp:cNvSpPr/>
      </dsp:nvSpPr>
      <dsp:spPr>
        <a:xfrm>
          <a:off x="5977476" y="3588616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Stage 2: Disease Diagnosis</a:t>
          </a:r>
        </a:p>
      </dsp:txBody>
      <dsp:txXfrm>
        <a:off x="6004599" y="3615739"/>
        <a:ext cx="1057000" cy="501377"/>
      </dsp:txXfrm>
    </dsp:sp>
    <dsp:sp modelId="{06878AEF-09B7-4909-BE11-152B1271819D}">
      <dsp:nvSpPr>
        <dsp:cNvPr id="0" name=""/>
        <dsp:cNvSpPr/>
      </dsp:nvSpPr>
      <dsp:spPr>
        <a:xfrm>
          <a:off x="4811904" y="3967333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Diagnoses from 76 conditions</a:t>
          </a:r>
        </a:p>
      </dsp:txBody>
      <dsp:txXfrm>
        <a:off x="4839027" y="3994456"/>
        <a:ext cx="1057000" cy="501377"/>
      </dsp:txXfrm>
    </dsp:sp>
    <dsp:sp modelId="{EB35A3F3-C769-49FE-A965-62E5D80F3591}">
      <dsp:nvSpPr>
        <dsp:cNvPr id="0" name=""/>
        <dsp:cNvSpPr/>
      </dsp:nvSpPr>
      <dsp:spPr>
        <a:xfrm>
          <a:off x="3646333" y="3588616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Confidence threshold: &gt;= 35%</a:t>
          </a:r>
        </a:p>
      </dsp:txBody>
      <dsp:txXfrm>
        <a:off x="3673456" y="3615739"/>
        <a:ext cx="1057000" cy="501377"/>
      </dsp:txXfrm>
    </dsp:sp>
    <dsp:sp modelId="{78FAD4F5-35F9-41BD-9088-89A97E80EB76}">
      <dsp:nvSpPr>
        <dsp:cNvPr id="0" name=""/>
        <dsp:cNvSpPr/>
      </dsp:nvSpPr>
      <dsp:spPr>
        <a:xfrm>
          <a:off x="2925971" y="2597122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Dynamic fallback for edge cases</a:t>
          </a:r>
        </a:p>
      </dsp:txBody>
      <dsp:txXfrm>
        <a:off x="2953094" y="2624245"/>
        <a:ext cx="1057000" cy="501377"/>
      </dsp:txXfrm>
    </dsp:sp>
    <dsp:sp modelId="{8362D904-5F38-4023-9F0E-95006BAF89E1}">
      <dsp:nvSpPr>
        <dsp:cNvPr id="0" name=""/>
        <dsp:cNvSpPr/>
      </dsp:nvSpPr>
      <dsp:spPr>
        <a:xfrm>
          <a:off x="2925971" y="1371569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Input: 300x300 RGB normalized image</a:t>
          </a:r>
        </a:p>
      </dsp:txBody>
      <dsp:txXfrm>
        <a:off x="2953094" y="1398692"/>
        <a:ext cx="1057000" cy="501377"/>
      </dsp:txXfrm>
    </dsp:sp>
    <dsp:sp modelId="{8A90547D-9EAE-4077-92EB-16C75BBE41BA}">
      <dsp:nvSpPr>
        <dsp:cNvPr id="0" name=""/>
        <dsp:cNvSpPr/>
      </dsp:nvSpPr>
      <dsp:spPr>
        <a:xfrm>
          <a:off x="3646333" y="380075"/>
          <a:ext cx="1111246" cy="555623"/>
        </a:xfrm>
        <a:prstGeom prst="roundRect">
          <a:avLst/>
        </a:prstGeom>
        <a:solidFill>
          <a:srgbClr val="1B5E2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Output: crop, disease, confidence</a:t>
          </a:r>
        </a:p>
      </dsp:txBody>
      <dsp:txXfrm>
        <a:off x="3673456" y="407198"/>
        <a:ext cx="1057000" cy="501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2E7D3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b="1" dirty="0"/>
              <a:t>Final 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AgriGuard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AI-Powered Crop Disease Detection &amp;</a:t>
            </a:r>
            <a:br/>
            <a:r>
              <a:t>IoT-Based Smart Irrigation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rPr b="1" dirty="0"/>
              <a:t>Presented by: Arslan Ahmed</a:t>
            </a:r>
            <a:r>
              <a:rPr lang="en-US" b="1" dirty="0"/>
              <a:t> (222012) &amp; Amna Ikram (222024)</a:t>
            </a:r>
            <a:endParaRPr b="1"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Arial"/>
              </a:defRPr>
            </a:pPr>
            <a:r>
              <a:rPr b="1" dirty="0"/>
              <a:t>Supervisor: </a:t>
            </a:r>
            <a:r>
              <a:rPr lang="en-US" b="1" dirty="0"/>
              <a:t>Dr. Zubair Nabi </a:t>
            </a:r>
            <a:r>
              <a:rPr b="1" dirty="0"/>
              <a:t>|  Department of </a:t>
            </a:r>
            <a:r>
              <a:rPr lang="en-US" b="1" dirty="0"/>
              <a:t>Software Engineering </a:t>
            </a:r>
            <a:r>
              <a:rPr b="1" dirty="0"/>
              <a:t>|  GCUF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Crop diseases cause up to 40% yield losses in Pakistan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73152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01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rPr dirty="0"/>
              <a:t>Farmers rely on manual inspection - expensive, slow, and often unavailable in rural areas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73152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Over-irrigation wastes 60% of agricultural water due to lack of real-time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51959"/>
            <a:ext cx="73152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5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No affordable, integrated solution exists combining disease detection + smart irrigation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73152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Late disease diagnosis leads to entire crop failure and financial ruin for small farmers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Our Solution: AgriGuard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AI Disease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Arial"/>
              </a:defRPr>
            </a:pPr>
            <a:r>
              <a:t>Snap a leaf photo -&gt; instant diagnosis</a:t>
            </a:r>
            <a:br/>
            <a:r>
              <a:t>for 10 crops &amp; 76 disease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Pesticide 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Arial"/>
              </a:defRPr>
            </a:pPr>
            <a:r>
              <a:t>Get treatment recommendations with</a:t>
            </a:r>
            <a:br/>
            <a:r>
              <a:t>dosage, spray intervals &amp; safety 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IoT Smart Irrigation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Arial"/>
              </a:defRPr>
            </a:pPr>
            <a:r>
              <a:t>Monitor soil moisture &amp; control water</a:t>
            </a:r>
            <a:br/>
            <a:r>
              <a:t>pump remotely or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45920"/>
            <a:ext cx="256032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Mobile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Arial"/>
              </a:defRPr>
            </a:pPr>
            <a:r>
              <a:t>Cross-platform React Native app</a:t>
            </a:r>
            <a:br/>
            <a:r>
              <a:t>accessible to any farmer with a smartphone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2332" y="1357879"/>
            <a:ext cx="9707588" cy="47594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10312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1A"/>
                </a:solidFill>
                <a:latin typeface="Arial"/>
              </a:defRPr>
            </a:pPr>
            <a:r>
              <a:t>React Native (Expo 54)</a:t>
            </a:r>
            <a:br/>
            <a:r>
              <a:t>JavaScript</a:t>
            </a:r>
            <a:br/>
            <a:r>
              <a:t>Axios + SecureStore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9" y="1463040"/>
            <a:ext cx="2103120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79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2860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1A"/>
                </a:solidFill>
                <a:latin typeface="Arial"/>
              </a:defRPr>
            </a:pPr>
            <a:r>
              <a:t>Node.js / Express.js</a:t>
            </a:r>
            <a:br/>
            <a:r>
              <a:t>MongoDB + Mongoose</a:t>
            </a:r>
            <a:br/>
            <a:r>
              <a:t>JWT Authentication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59" y="1463040"/>
            <a:ext cx="21031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199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22860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1A"/>
                </a:solidFill>
                <a:latin typeface="Arial"/>
              </a:defRPr>
            </a:pPr>
            <a:r>
              <a:t>Python / Flask</a:t>
            </a:r>
            <a:br/>
            <a:r>
              <a:t>TensorFlow / Keras</a:t>
            </a:r>
            <a:br/>
            <a:r>
              <a:t>EfficientNetB3 (x2 models)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1463040"/>
            <a:ext cx="2103120" cy="59436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19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IoT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22860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1A"/>
                </a:solidFill>
                <a:latin typeface="Arial"/>
              </a:defRPr>
            </a:pPr>
            <a:r>
              <a:t>ESP32-CAM (OV2640)</a:t>
            </a:r>
            <a:br/>
            <a:r>
              <a:t>ESP32-WROOM-32</a:t>
            </a:r>
            <a:br/>
            <a:r>
              <a:t>Soil Moisture Sensor + Relay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463040"/>
            <a:ext cx="2103120" cy="5943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1A"/>
                </a:solidFill>
                <a:latin typeface="Arial"/>
              </a:defRPr>
            </a:pPr>
            <a:r>
              <a:t>Render (Backend)</a:t>
            </a:r>
            <a:br/>
            <a:r>
              <a:t>Hugging Face (ML)</a:t>
            </a:r>
            <a:br/>
            <a:r>
              <a:t>MongoDB Atlas (DB)</a:t>
            </a:r>
            <a:br/>
            <a:r>
              <a:t>GitHub (APK)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AI-Powered Disease Detection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E7077F5-AF45-7BDA-77FC-6EB24798FC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138698"/>
              </p:ext>
            </p:extLst>
          </p:nvPr>
        </p:nvGraphicFramePr>
        <p:xfrm>
          <a:off x="731520" y="1371600"/>
          <a:ext cx="10735056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Mobile App - Disease Detection Flow</a:t>
            </a:r>
          </a:p>
        </p:txBody>
      </p:sp>
      <p:pic>
        <p:nvPicPr>
          <p:cNvPr id="4" name="Picture 3" descr="Detect Screen (Empty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97510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Select Image</a:t>
            </a:r>
          </a:p>
        </p:txBody>
      </p:sp>
      <p:pic>
        <p:nvPicPr>
          <p:cNvPr id="6" name="Picture 5" descr="Detect Screen (Image Selected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71600"/>
            <a:ext cx="197510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Image Selected</a:t>
            </a:r>
          </a:p>
        </p:txBody>
      </p:sp>
      <p:pic>
        <p:nvPicPr>
          <p:cNvPr id="8" name="Picture 7" descr="Detect Screen (Analyzing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1975104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Analyzing...</a:t>
            </a:r>
          </a:p>
        </p:txBody>
      </p:sp>
      <p:pic>
        <p:nvPicPr>
          <p:cNvPr id="10" name="Picture 9" descr="Result Screen (Healthy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71600"/>
            <a:ext cx="1975104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Healthy Result</a:t>
            </a:r>
          </a:p>
        </p:txBody>
      </p:sp>
      <p:pic>
        <p:nvPicPr>
          <p:cNvPr id="12" name="Picture 11" descr="Result Screen (Diseased)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371600"/>
            <a:ext cx="1591222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Diseased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Mobile App -- Key Screens</a:t>
            </a:r>
          </a:p>
        </p:txBody>
      </p:sp>
      <p:pic>
        <p:nvPicPr>
          <p:cNvPr id="4" name="Picture 3" descr="Splash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97510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Splash</a:t>
            </a:r>
          </a:p>
        </p:txBody>
      </p:sp>
      <p:pic>
        <p:nvPicPr>
          <p:cNvPr id="6" name="Picture 5" descr="Login 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71600"/>
            <a:ext cx="197510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Login</a:t>
            </a:r>
          </a:p>
        </p:txBody>
      </p:sp>
      <p:pic>
        <p:nvPicPr>
          <p:cNvPr id="8" name="Picture 7" descr="Home Screen (Dashboard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1975104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Dashboard</a:t>
            </a:r>
          </a:p>
        </p:txBody>
      </p:sp>
      <p:pic>
        <p:nvPicPr>
          <p:cNvPr id="10" name="Picture 9" descr="History 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71600"/>
            <a:ext cx="1975104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Scan History</a:t>
            </a:r>
          </a:p>
        </p:txBody>
      </p:sp>
      <p:pic>
        <p:nvPicPr>
          <p:cNvPr id="12" name="Picture 11" descr="Profile Sc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371600"/>
            <a:ext cx="1975104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16161"/>
                </a:solidFill>
                <a:latin typeface="Arial"/>
              </a:defRPr>
            </a:pPr>
            <a:r>
              <a:t>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IoT Hardware -- Smart Irrigation</a:t>
            </a:r>
          </a:p>
        </p:txBody>
      </p:sp>
      <p:pic>
        <p:nvPicPr>
          <p:cNvPr id="4" name="Picture 3" descr="esp32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2468880"/>
          </a:xfrm>
          <a:prstGeom prst="rect">
            <a:avLst/>
          </a:prstGeom>
        </p:spPr>
      </p:pic>
      <p:pic>
        <p:nvPicPr>
          <p:cNvPr id="5" name="Picture 4" descr="smart_irr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530352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ESP32-CAM Module: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OV2640 camera (1600x1200)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HTTP server on port 80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Captures leaf images on demand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ESP32-WROOM-32 Module: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Capacitive soil moisture sensor (GPIO 34)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Relay-controlled water pump (GPIO 26)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Auto mode: pump ON &lt; 30%, OFF &gt; 70%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Failsafe: pump OFF on boot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Communication: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Dynamic IP registration to backend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Backend acts as reverse proxy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  - Mobile app never needs device 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Smart Water Management</a:t>
            </a:r>
          </a:p>
        </p:txBody>
      </p:sp>
      <p:pic>
        <p:nvPicPr>
          <p:cNvPr id="4" name="Picture 3" descr="Water 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3969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149413"/>
            <a:ext cx="6400800" cy="574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Real-time Soil Moisture Display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Animated progress bar (0-100%)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Color-coded: Red/Yellow/Green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Contextual advice text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Manual Pump Control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ON/OFF toggle with confirmation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Haptic feedback on press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Automatic Watering Mode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Pump ON when moisture &lt; 30%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Pump OFF when moisture &gt; 70%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Checks every 5 minutes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Safety Features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Pump defaults to OFF on boot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Auto-OFF when auto mode disabled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rPr sz="1400" dirty="0"/>
              <a:t>  - Device offline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ML Model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Model 1: Crop Classifier (11 classes)</a:t>
            </a:r>
          </a:p>
        </p:txBody>
      </p:sp>
      <p:pic>
        <p:nvPicPr>
          <p:cNvPr id="5" name="Picture 4" descr="model 1 confusion 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3035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  <a:latin typeface="Arial"/>
              </a:defRPr>
            </a:pPr>
            <a:r>
              <a:t>Model 2: Disease Diagnoser (76 classes)</a:t>
            </a:r>
          </a:p>
        </p:txBody>
      </p:sp>
      <p:pic>
        <p:nvPicPr>
          <p:cNvPr id="7" name="Picture 6" descr="model 2 confuin 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74320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  <a:latin typeface="Arial"/>
              </a:defRPr>
            </a:pPr>
            <a:r>
              <a:t>Render (Cloud)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691640"/>
            <a:ext cx="45720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Arial"/>
              </a:defRPr>
            </a:pPr>
            <a:r>
              <a:t>Express.js server</a:t>
            </a:r>
            <a:br/>
            <a:r>
              <a:t>https://agriguard-g3hq.onrender.com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74320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ML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  <a:latin typeface="Arial"/>
              </a:defRPr>
            </a:pPr>
            <a:r>
              <a:t>Hugging Face Spaces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697480"/>
            <a:ext cx="45720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Arial"/>
              </a:defRPr>
            </a:pPr>
            <a:r>
              <a:t>Flask + TensorFlow</a:t>
            </a:r>
            <a:br/>
            <a:r>
              <a:t>https://mearslanahmed-agriguard-flask.hf.space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2743200" cy="7772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  <a:latin typeface="Arial"/>
              </a:defRPr>
            </a:pPr>
            <a:r>
              <a:t>MongoDB Atlas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703320"/>
            <a:ext cx="457200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34747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Arial"/>
              </a:defRPr>
            </a:pPr>
            <a:r>
              <a:t>Cloud-hosted MongoDB</a:t>
            </a:r>
            <a:br/>
            <a:r>
              <a:t>All 5 collections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80560"/>
            <a:ext cx="2743200" cy="77724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Email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  <a:latin typeface="Arial"/>
              </a:defRPr>
            </a:pPr>
            <a:r>
              <a:t>Brevo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709160"/>
            <a:ext cx="457200" cy="73152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Arial"/>
              </a:defRPr>
            </a:pPr>
            <a:r>
              <a:t>Transactional OTP emails</a:t>
            </a:r>
            <a:br/>
            <a:r>
              <a:t>REST API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27432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  <a:latin typeface="Arial"/>
              </a:defRPr>
            </a:pPr>
            <a:r>
              <a:t>GitHub Releases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5715000"/>
            <a:ext cx="45720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54864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Arial"/>
              </a:defRPr>
            </a:pPr>
            <a:r>
              <a:t>Android APK download</a:t>
            </a:r>
            <a:br/>
            <a:r>
              <a:t>No Play Store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Key Features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Email-based OTP authentication with bcrypt hashing &amp; JWT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Dual-stage AI pipeline: 10 crops, 76 diseases, dynamic fallback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Disease-specific pesticide advisory (76+ records with dosage &amp; safety)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79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42899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289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Scan history with ownership-based access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Real-time soil moisture monitoring with animated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Manual &amp; automatic pump control with safety failsafes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19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3492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ESP32-CAM integration for field-mounted leaf photography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9436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989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Arial"/>
              </a:defRPr>
            </a:pPr>
            <a:r>
              <a:t>Deployed on Render + Hugging Face + MongoDB Atlas + Brevo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End-to-end smart farming solution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AI accuracy validated via confusion matrices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All functional requirements tested &amp; accepted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Fully deployed and accessible online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Hardware prototype working with real 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Support for more crops &amp; diseases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Weather-based irrigation scheduling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Real-time disease outbreak monitoring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Google Play Store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Agricultural marketplace integration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t>Multi-language support for farmers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Arial"/>
              </a:defRPr>
            </a:pPr>
            <a:r>
              <a:rPr dirty="0"/>
              <a:t>Arslan Ahmed</a:t>
            </a:r>
            <a:r>
              <a:rPr lang="en-US" dirty="0"/>
              <a:t> &amp; Amna Ikram</a:t>
            </a:r>
            <a:r>
              <a:rPr dirty="0"/>
              <a:t>  |  GCUF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C784"/>
                </a:solidFill>
                <a:latin typeface="Arial"/>
              </a:defRPr>
            </a:pPr>
            <a:r>
              <a:t>github.com/mearslanahmed/AgriGuard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798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Arslan Ahmed</cp:lastModifiedBy>
  <cp:revision>3</cp:revision>
  <dcterms:created xsi:type="dcterms:W3CDTF">2013-01-27T09:14:16Z</dcterms:created>
  <dcterms:modified xsi:type="dcterms:W3CDTF">2026-06-07T12:01:10Z</dcterms:modified>
  <cp:category/>
</cp:coreProperties>
</file>